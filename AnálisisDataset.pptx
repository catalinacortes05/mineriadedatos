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TI88jH5fMSF/8B/MZnq49EXyg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1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3" y="0"/>
            <a:ext cx="121807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19"/>
              <a:buFont typeface="Calibri"/>
              <a:buNone/>
              <a:defRPr sz="481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69"/>
              </a:spcBef>
              <a:spcAft>
                <a:spcPts val="0"/>
              </a:spcAft>
              <a:buClr>
                <a:srgbClr val="888888"/>
              </a:buClr>
              <a:buSzPts val="2344"/>
              <a:buFont typeface="Arial"/>
              <a:buNone/>
              <a:defRPr sz="23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2214"/>
              <a:buFont typeface="Arial"/>
              <a:buNone/>
              <a:defRPr sz="221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954"/>
              <a:buFont typeface="Arial"/>
              <a:buNone/>
              <a:defRPr sz="195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body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3"/>
          <p:cNvSpPr>
            <a:spLocks noGrp="1"/>
          </p:cNvSpPr>
          <p:nvPr>
            <p:ph type="pic" idx="2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1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 rot="5400000">
            <a:off x="3833815" y="-1623933"/>
            <a:ext cx="4525963" cy="1097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>
            <a:spLocks noGrp="1"/>
          </p:cNvSpPr>
          <p:nvPr>
            <p:ph type="title"/>
          </p:nvPr>
        </p:nvSpPr>
        <p:spPr>
          <a:xfrm rot="5400000">
            <a:off x="7286368" y="1828622"/>
            <a:ext cx="5851525" cy="27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body" idx="1"/>
          </p:nvPr>
        </p:nvSpPr>
        <p:spPr>
          <a:xfrm rot="5400000">
            <a:off x="1697641" y="-813323"/>
            <a:ext cx="5851525" cy="80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61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/>
        </p:nvSpPr>
        <p:spPr>
          <a:xfrm>
            <a:off x="5131914" y="1078565"/>
            <a:ext cx="692331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ES" sz="2400" dirty="0">
                <a:solidFill>
                  <a:schemeClr val="dk1"/>
                </a:solidFill>
              </a:rPr>
              <a:t>Análisis de los factores que determinan el precio de las viviendas en Boston.</a:t>
            </a:r>
            <a:endParaRPr sz="2400" dirty="0"/>
          </a:p>
        </p:txBody>
      </p:sp>
      <p:pic>
        <p:nvPicPr>
          <p:cNvPr id="76" name="Google Shape;76;p1" descr="Patrón de fond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199" y="1599059"/>
            <a:ext cx="4091267" cy="224359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 txBox="1"/>
          <p:nvPr/>
        </p:nvSpPr>
        <p:spPr>
          <a:xfrm>
            <a:off x="5578753" y="2565404"/>
            <a:ext cx="6029636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solidFill>
                  <a:schemeClr val="dk1"/>
                </a:solidFill>
              </a:rPr>
              <a:t>Caso 4: Precios de viviendas en Boston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2400" dirty="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solidFill>
                  <a:schemeClr val="dk1"/>
                </a:solidFill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solidFill>
                  <a:schemeClr val="dk1"/>
                </a:solidFill>
              </a:rPr>
              <a:t>Andrea Catalina Cortes Ramires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2400" dirty="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solidFill>
                  <a:schemeClr val="dk1"/>
                </a:solidFill>
              </a:rPr>
              <a:t>07/11/2025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6322271" y="5410135"/>
            <a:ext cx="454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chemeClr val="dk1"/>
                </a:solidFill>
              </a:rPr>
              <a:t>Docente: </a:t>
            </a:r>
            <a:r>
              <a:rPr lang="es-CO" sz="1800" b="1" dirty="0" err="1">
                <a:solidFill>
                  <a:schemeClr val="dk1"/>
                </a:solidFill>
              </a:rPr>
              <a:t>Julian</a:t>
            </a:r>
            <a:r>
              <a:rPr lang="es-CO" sz="1800" b="1" dirty="0">
                <a:solidFill>
                  <a:schemeClr val="dk1"/>
                </a:solidFill>
              </a:rPr>
              <a:t> Quimbayo Castro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00B0A03-F77A-CAA3-3A25-93C237F5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b="1" i="0" u="none" strike="noStrike" cap="none">
                <a:latin typeface="Calibri"/>
                <a:ea typeface="Calibri"/>
                <a:cs typeface="Calibri"/>
                <a:sym typeface="Calibri"/>
              </a:rPr>
              <a:t>Pregunta de investigación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DB744D-753A-1C1B-D443-ADDDD37AD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" r="-2" b="35963"/>
          <a:stretch>
            <a:fillRect/>
          </a:stretch>
        </p:blipFill>
        <p:spPr bwMode="auto">
          <a:xfrm>
            <a:off x="2390029" y="612777"/>
            <a:ext cx="7316153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524C066-7596-A77D-B3E9-4728441DCF98}"/>
              </a:ext>
            </a:extLst>
          </p:cNvPr>
          <p:cNvSpPr txBox="1"/>
          <p:nvPr/>
        </p:nvSpPr>
        <p:spPr>
          <a:xfrm>
            <a:off x="990601" y="5408385"/>
            <a:ext cx="8247496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marL="457200" indent="-228600">
              <a:spcBef>
                <a:spcPts val="339"/>
              </a:spcBef>
              <a:buClr>
                <a:schemeClr val="dk1"/>
              </a:buClr>
              <a:buSzPts val="1693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¿En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las variables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socioeconómicas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ambientales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estructurales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vecindario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influyen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valor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las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viviendas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(MEDV) 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Boston?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FEF976-5970-75B9-CFE2-16F08322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538" y="274638"/>
            <a:ext cx="10974230" cy="1143000"/>
          </a:xfrm>
        </p:spPr>
        <p:txBody>
          <a:bodyPr/>
          <a:lstStyle/>
          <a:p>
            <a:r>
              <a:rPr lang="en-US" dirty="0" err="1"/>
              <a:t>Análisis</a:t>
            </a:r>
            <a:r>
              <a:rPr lang="en-US" dirty="0"/>
              <a:t> del Dataset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B3AEB88-A25B-9A20-FBFB-A9670DCFE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38" y="2283363"/>
            <a:ext cx="6705760" cy="429999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747C17B-C1AF-1342-DF37-BFAD20F55256}"/>
              </a:ext>
            </a:extLst>
          </p:cNvPr>
          <p:cNvSpPr txBox="1"/>
          <p:nvPr/>
        </p:nvSpPr>
        <p:spPr>
          <a:xfrm>
            <a:off x="180408" y="1140363"/>
            <a:ext cx="11832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El </a:t>
            </a:r>
            <a:r>
              <a:rPr lang="es-ES" sz="2000" dirty="0" err="1"/>
              <a:t>dataset</a:t>
            </a:r>
            <a:r>
              <a:rPr lang="es-ES" sz="2000" dirty="0"/>
              <a:t> Boston </a:t>
            </a:r>
            <a:r>
              <a:rPr lang="es-ES" sz="2000" dirty="0" err="1"/>
              <a:t>Housing</a:t>
            </a:r>
            <a:r>
              <a:rPr lang="es-ES" sz="2000" dirty="0"/>
              <a:t> contiene 506 registros y 14 variables numéricas sobre viviendas en Boston.</a:t>
            </a:r>
            <a:br>
              <a:rPr lang="es-ES" sz="2000" dirty="0"/>
            </a:br>
            <a:r>
              <a:rPr lang="es-ES" sz="2000" dirty="0"/>
              <a:t>Los datos son numéricos y no presentan valores faltantes.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91006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88D577-ACE8-810F-BD4D-425A4829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</p:spPr>
        <p:txBody>
          <a:bodyPr/>
          <a:lstStyle/>
          <a:p>
            <a:r>
              <a:rPr lang="en-US" dirty="0" err="1"/>
              <a:t>Visualizaciones</a:t>
            </a:r>
            <a:r>
              <a:rPr lang="en-US" dirty="0"/>
              <a:t> </a:t>
            </a:r>
            <a:r>
              <a:rPr lang="en-US" dirty="0" err="1"/>
              <a:t>principales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0115D3D-6D8C-D812-EB77-D3D8D7F7AD1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83867" y="1470480"/>
            <a:ext cx="5809721" cy="1740166"/>
          </a:xfrm>
        </p:spPr>
        <p:txBody>
          <a:bodyPr/>
          <a:lstStyle/>
          <a:p>
            <a:pPr marL="228600" indent="0"/>
            <a:r>
              <a:rPr lang="es-MX" sz="1400" b="0" dirty="0"/>
              <a:t>Hallazgos del Análisis Exploratorio (EDA)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s-MX" sz="1400" b="0" dirty="0"/>
              <a:t>Distribución (MEDV): Concentración principal entre 15.000 y 25.000 USD.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s-MX" sz="1400" b="0" dirty="0"/>
              <a:t>Relación RM-MEDV: Existe una correlación positiva y directa.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s-MX" sz="1400" b="0" dirty="0"/>
              <a:t>Interpretación: El tamaño de la casa (RM) es el primer factor visual que influye en el precio.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37DC232-101A-51F6-21D0-E833755DA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26" y="1339775"/>
            <a:ext cx="55626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8037F70-7CF4-AFF5-81AD-37EB5BE48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4" y="4152900"/>
            <a:ext cx="555307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00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EE759-15E1-1B14-15A2-F6EE33AF7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Visualizaciones principales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923496-7243-D539-D290-F10BE549014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4176" y="1535113"/>
            <a:ext cx="5389735" cy="3058658"/>
          </a:xfrm>
        </p:spPr>
        <p:txBody>
          <a:bodyPr/>
          <a:lstStyle/>
          <a:p>
            <a:pPr algn="ctr"/>
            <a:r>
              <a:rPr lang="es-ES" sz="1800" b="0" dirty="0"/>
              <a:t>La matriz de correlación de Spearman muestra relaciones fuertes: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s-ES" sz="1800" b="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s-ES" sz="1800" b="0" dirty="0"/>
              <a:t>RM y MEDV: correlación positiva.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s-ES" sz="1800" b="0" dirty="0"/>
              <a:t>LSTAT y MEDV: correlación negativa.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s-ES" sz="1800" b="0" dirty="0"/>
              <a:t>PTRATIO y NOX: correlaciones moderadas.</a:t>
            </a:r>
            <a:br>
              <a:rPr lang="es-ES" sz="1800" b="0" dirty="0"/>
            </a:br>
            <a:r>
              <a:rPr lang="es-ES" sz="1800" b="0" dirty="0"/>
              <a:t>Estas relaciones confirman los factores más relevantes en el precio.</a:t>
            </a:r>
          </a:p>
          <a:p>
            <a:endParaRPr lang="es-CO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98EEA53-C67E-F8CB-3320-B354E2939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4" y="1320227"/>
            <a:ext cx="5230358" cy="542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16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842BD-7636-D568-3AD1-53E80D702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01" y="4098729"/>
            <a:ext cx="7316153" cy="566739"/>
          </a:xfrm>
        </p:spPr>
        <p:txBody>
          <a:bodyPr wrap="square" anchor="b">
            <a:normAutofit/>
          </a:bodyPr>
          <a:lstStyle/>
          <a:p>
            <a:r>
              <a:rPr lang="es-CO" dirty="0"/>
              <a:t>Visualizaciones Principales</a:t>
            </a:r>
          </a:p>
        </p:txBody>
      </p:sp>
      <p:pic>
        <p:nvPicPr>
          <p:cNvPr id="3079" name="Picture 7">
            <a:extLst>
              <a:ext uri="{FF2B5EF4-FFF2-40B4-BE49-F238E27FC236}">
                <a16:creationId xmlns:a16="http://schemas.microsoft.com/office/drawing/2014/main" id="{3C6BCEDE-216A-94A7-8BB3-821CD5EAE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0029" y="598615"/>
            <a:ext cx="6634228" cy="31844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173503-9237-529B-556D-B65B101EC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486" y="4812167"/>
            <a:ext cx="8563182" cy="804862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s-ES" sz="1800" b="0" dirty="0"/>
              <a:t>El modelo de regresión lineal tuvo un R² de 0.75, mostrando buen ajuste.</a:t>
            </a:r>
            <a:br>
              <a:rPr lang="es-ES" sz="1800" b="0" dirty="0"/>
            </a:br>
            <a:r>
              <a:rPr lang="es-ES" sz="1800" b="0" dirty="0"/>
              <a:t>Predice correctamente la mayoría de los precios.</a:t>
            </a:r>
            <a:br>
              <a:rPr lang="es-ES" sz="1800" b="0" dirty="0"/>
            </a:br>
            <a:r>
              <a:rPr lang="es-ES" sz="1800" b="0" dirty="0"/>
              <a:t>RM influye positivamente y LSTAT negativamente en el valor de las viviendas.</a:t>
            </a:r>
            <a:br>
              <a:rPr lang="es-ES" sz="1800" b="0" dirty="0"/>
            </a:br>
            <a:r>
              <a:rPr lang="es-ES" sz="1800" b="0" dirty="0"/>
              <a:t>El error medio (MSE) fue bajo, confirmando un rendimiento adecuado.</a:t>
            </a:r>
            <a:endParaRPr lang="es-CO" sz="1800" b="0" dirty="0"/>
          </a:p>
        </p:txBody>
      </p:sp>
    </p:spTree>
    <p:extLst>
      <p:ext uri="{BB962C8B-B14F-4D97-AF65-F5344CB8AC3E}">
        <p14:creationId xmlns:p14="http://schemas.microsoft.com/office/powerpoint/2010/main" val="75147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48BAE-B639-EFFE-4F61-AF04E454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</p:spPr>
        <p:txBody>
          <a:bodyPr wrap="square" anchor="t">
            <a:normAutofit/>
          </a:bodyPr>
          <a:lstStyle/>
          <a:p>
            <a:r>
              <a:rPr lang="es-CO" dirty="0"/>
              <a:t>Importancia de las variables 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42F84F6-7E90-938E-32AF-3F5CB9BDF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04318"/>
              </p:ext>
            </p:extLst>
          </p:nvPr>
        </p:nvGraphicFramePr>
        <p:xfrm>
          <a:off x="838200" y="2011627"/>
          <a:ext cx="10517188" cy="1219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58594">
                  <a:extLst>
                    <a:ext uri="{9D8B030D-6E8A-4147-A177-3AD203B41FA5}">
                      <a16:colId xmlns:a16="http://schemas.microsoft.com/office/drawing/2014/main" val="191357161"/>
                    </a:ext>
                  </a:extLst>
                </a:gridCol>
                <a:gridCol w="5258594">
                  <a:extLst>
                    <a:ext uri="{9D8B030D-6E8A-4147-A177-3AD203B41FA5}">
                      <a16:colId xmlns:a16="http://schemas.microsoft.com/office/drawing/2014/main" val="4143423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Variables que </a:t>
                      </a:r>
                      <a:r>
                        <a:rPr lang="es-MX" b="0" dirty="0"/>
                        <a:t>SUBEN</a:t>
                      </a:r>
                      <a:r>
                        <a:rPr lang="es-MX" dirty="0"/>
                        <a:t> el Precio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Variables que </a:t>
                      </a:r>
                      <a:r>
                        <a:rPr lang="es-MX" b="0" dirty="0"/>
                        <a:t>BAJAN </a:t>
                      </a:r>
                      <a:r>
                        <a:rPr lang="es-MX" dirty="0"/>
                        <a:t>el Precio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805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RM</a:t>
                      </a:r>
                      <a:r>
                        <a:rPr lang="es-CO"/>
                        <a:t> (Habitaciones)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LSTAT</a:t>
                      </a:r>
                      <a:r>
                        <a:rPr lang="es-CO" dirty="0"/>
                        <a:t> (Bajo Estatus)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674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DIS</a:t>
                      </a:r>
                      <a:r>
                        <a:rPr lang="es-CO"/>
                        <a:t> (Distancia a Empleo)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1"/>
                        <a:t>NOX</a:t>
                      </a:r>
                      <a:r>
                        <a:rPr lang="es-CO"/>
                        <a:t> (Contaminación)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374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CHAS</a:t>
                      </a:r>
                      <a:r>
                        <a:rPr lang="es-CO" dirty="0"/>
                        <a:t> (Colinda con Río)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PTRATIO</a:t>
                      </a:r>
                      <a:r>
                        <a:rPr lang="es-CO" dirty="0"/>
                        <a:t> (Relación Alumno-Profesor)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220608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890C2330-91DB-4406-52E0-CA6F95596216}"/>
              </a:ext>
            </a:extLst>
          </p:cNvPr>
          <p:cNvSpPr txBox="1"/>
          <p:nvPr/>
        </p:nvSpPr>
        <p:spPr>
          <a:xfrm>
            <a:off x="838200" y="14176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Impacto de las Variables (Coeficientes del Modelo)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1D2D2E4-E4D7-786D-8188-743D9C6F4CD3}"/>
              </a:ext>
            </a:extLst>
          </p:cNvPr>
          <p:cNvSpPr txBox="1"/>
          <p:nvPr/>
        </p:nvSpPr>
        <p:spPr>
          <a:xfrm>
            <a:off x="711200" y="3897868"/>
            <a:ext cx="10644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Respuesta a la Pregunta:</a:t>
            </a:r>
            <a:r>
              <a:rPr lang="es-MX" dirty="0"/>
              <a:t> Los factores estructurales (RM) y socioeconómicos (LSTAT) son los principales determinantes del valor de la vivienda en Boston.</a:t>
            </a:r>
          </a:p>
        </p:txBody>
      </p:sp>
    </p:spTree>
    <p:extLst>
      <p:ext uri="{BB962C8B-B14F-4D97-AF65-F5344CB8AC3E}">
        <p14:creationId xmlns:p14="http://schemas.microsoft.com/office/powerpoint/2010/main" val="1927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137611C-222A-6FA6-2001-F9FDBDB6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58" y="365760"/>
            <a:ext cx="10516970" cy="1325880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Conclusiones</a:t>
            </a:r>
            <a:r>
              <a:rPr lang="en-US" dirty="0"/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F07A228-BE64-D76F-1BFC-1B722DB1FB91}"/>
              </a:ext>
            </a:extLst>
          </p:cNvPr>
          <p:cNvSpPr txBox="1"/>
          <p:nvPr/>
        </p:nvSpPr>
        <p:spPr>
          <a:xfrm>
            <a:off x="841358" y="1882140"/>
            <a:ext cx="8108776" cy="4352544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El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análisis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del Boston Housing Dataset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evidenció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que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las variables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socioeconómicas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ambientales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y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estructurales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influyen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directamente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el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valor de las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viviendas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. Se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encontró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una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relación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positiva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entre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el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número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de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habitaciones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(RM) y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el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precio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(MEDV), y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una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relación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negativa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entre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el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nivel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socioeconómico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(LSTAT) y la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contaminación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(NOX). El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modelo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de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regresión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lineal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obtuvo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un R² de 0.75,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demostrando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buen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ajuste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y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predicción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. En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conclusión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los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factores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del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entorno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y las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características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físicas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del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vecindario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son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determinantes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el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precio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de las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viviendas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</a:rPr>
              <a:t>en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Boston.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75648C0-5842-C598-F642-F2B311054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8" r="14980" b="-3"/>
          <a:stretch>
            <a:fillRect/>
          </a:stretch>
        </p:blipFill>
        <p:spPr bwMode="auto">
          <a:xfrm>
            <a:off x="9331134" y="1882140"/>
            <a:ext cx="2027193" cy="435254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6802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428</Words>
  <Application>Microsoft Office PowerPoint</Application>
  <PresentationFormat>Personalizado</PresentationFormat>
  <Paragraphs>39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Calibri</vt:lpstr>
      <vt:lpstr>Arial</vt:lpstr>
      <vt:lpstr>Tema de Office</vt:lpstr>
      <vt:lpstr>Presentación de PowerPoint</vt:lpstr>
      <vt:lpstr>Pregunta de investigación </vt:lpstr>
      <vt:lpstr>Análisis del Dataset</vt:lpstr>
      <vt:lpstr>Visualizaciones principales</vt:lpstr>
      <vt:lpstr>Visualizaciones principales</vt:lpstr>
      <vt:lpstr>Visualizaciones Principales</vt:lpstr>
      <vt:lpstr>Importancia de las variables </vt:lpstr>
      <vt:lpstr>Conclusiones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Katherine Bello</dc:creator>
  <cp:lastModifiedBy>Andrea Catalina Cortes Ramires</cp:lastModifiedBy>
  <cp:revision>4</cp:revision>
  <dcterms:created xsi:type="dcterms:W3CDTF">2020-08-21T13:03:05Z</dcterms:created>
  <dcterms:modified xsi:type="dcterms:W3CDTF">2025-11-06T17:09:20Z</dcterms:modified>
</cp:coreProperties>
</file>